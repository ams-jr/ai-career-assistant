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1" autoAdjust="0"/>
    <p:restoredTop sz="94660"/>
  </p:normalViewPr>
  <p:slideViewPr>
    <p:cSldViewPr snapToGrid="0" showGuides="1">
      <p:cViewPr varScale="1">
        <p:scale>
          <a:sx n="53" d="100"/>
          <a:sy n="53" d="100"/>
        </p:scale>
        <p:origin x="180" y="5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2" Type="http://schemas.openxmlformats.org/officeDocument/2006/relationships/tableStyles" Target="tableStyles.xml"/><Relationship Id="rId21" Type="http://schemas.openxmlformats.org/officeDocument/2006/relationships/viewProps" Target="viewProps.xml"/><Relationship Id="rId20" Type="http://schemas.openxmlformats.org/officeDocument/2006/relationships/presProps" Target="presProps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051" name="Rectangle 3"/>
          <p:cNvSpPr>
            <a:spLocks noGrp="1" noChangeArrowheads="1"/>
          </p:cNvSpPr>
          <p:nvPr>
            <p:ph type="ctrTitle"/>
          </p:nvPr>
        </p:nvSpPr>
        <p:spPr>
          <a:xfrm>
            <a:off x="2063751" y="1701800"/>
            <a:ext cx="9211733" cy="1082675"/>
          </a:xfrm>
        </p:spPr>
        <p:txBody>
          <a:bodyPr/>
          <a:lstStyle>
            <a:lvl1pPr algn="r">
              <a:defRPr/>
            </a:lvl1pPr>
          </a:lstStyle>
          <a:p>
            <a:pPr lvl="0"/>
            <a:r>
              <a:rPr lang="en-US" altLang="zh-CN" noProof="0" smtClean="0"/>
              <a:t>Click to edit Master title style</a:t>
            </a:r>
            <a:endParaRPr lang="en-US" altLang="zh-CN" noProof="0" smtClean="0"/>
          </a:p>
        </p:txBody>
      </p:sp>
      <p:sp>
        <p:nvSpPr>
          <p:cNvPr id="2052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2063751" y="2927350"/>
            <a:ext cx="9218083" cy="1752600"/>
          </a:xfrm>
        </p:spPr>
        <p:txBody>
          <a:bodyPr/>
          <a:lstStyle>
            <a:lvl1pPr marL="0" indent="0" algn="r">
              <a:buFontTx/>
              <a:buNone/>
              <a:defRPr/>
            </a:lvl1pPr>
          </a:lstStyle>
          <a:p>
            <a:pPr lvl="0"/>
            <a:r>
              <a:rPr lang="en-US" altLang="zh-CN" noProof="0" smtClean="0"/>
              <a:t>Click to edit Master subtitle style</a:t>
            </a:r>
            <a:endParaRPr lang="en-US" altLang="zh-CN" noProof="0" smtClean="0"/>
          </a:p>
        </p:txBody>
      </p:sp>
      <p:sp>
        <p:nvSpPr>
          <p:cNvPr id="9" name="Rectangle 5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5225"/>
            <a:ext cx="2844800" cy="476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/>
            </a:lvl1pPr>
          </a:lstStyle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10" name="Rectangle 6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5225"/>
            <a:ext cx="3860800" cy="476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11" name="Rectangle 7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45225"/>
            <a:ext cx="2844800" cy="476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/>
            </a:lvl1pPr>
          </a:lstStyle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4589463"/>
            <a:ext cx="105156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174750"/>
            <a:ext cx="5384800" cy="495300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174750"/>
            <a:ext cx="5384800" cy="495300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0317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0317" y="1681163"/>
            <a:ext cx="5158316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40317" y="2505075"/>
            <a:ext cx="5158316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71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71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0317" y="457200"/>
            <a:ext cx="393276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717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0317" y="2057400"/>
            <a:ext cx="393276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0317" y="457200"/>
            <a:ext cx="393276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717" y="987425"/>
            <a:ext cx="6172200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sz="32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0317" y="2057400"/>
            <a:ext cx="393276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190500"/>
            <a:ext cx="2743200" cy="5937250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190500"/>
            <a:ext cx="8026400" cy="593725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image" Target="../media/image2.jpeg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1026" name="Picture 3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-8467" y="0"/>
            <a:ext cx="12200467" cy="68580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027" name="Rectangle 3"/>
          <p:cNvSpPr>
            <a:spLocks noGrp="1"/>
          </p:cNvSpPr>
          <p:nvPr>
            <p:ph type="title"/>
          </p:nvPr>
        </p:nvSpPr>
        <p:spPr>
          <a:xfrm>
            <a:off x="609600" y="190500"/>
            <a:ext cx="10972800" cy="582613"/>
          </a:xfrm>
          <a:prstGeom prst="rect">
            <a:avLst/>
          </a:prstGeom>
          <a:noFill/>
          <a:ln w="9525">
            <a:noFill/>
          </a:ln>
        </p:spPr>
        <p:txBody>
          <a:bodyPr anchor="ctr" anchorCtr="0"/>
          <a:p>
            <a:pPr lvl="0"/>
            <a:r>
              <a:rPr lang="en-US" altLang="zh-CN" dirty="0"/>
              <a:t>Click to edit Master title style</a:t>
            </a:r>
            <a:endParaRPr lang="en-US" altLang="zh-CN" dirty="0"/>
          </a:p>
        </p:txBody>
      </p:sp>
      <p:sp>
        <p:nvSpPr>
          <p:cNvPr id="1028" name="Rectangle 4"/>
          <p:cNvSpPr>
            <a:spLocks noGrp="1"/>
          </p:cNvSpPr>
          <p:nvPr>
            <p:ph type="body" idx="1"/>
          </p:nvPr>
        </p:nvSpPr>
        <p:spPr>
          <a:xfrm>
            <a:off x="609600" y="1174750"/>
            <a:ext cx="10972800" cy="4953000"/>
          </a:xfrm>
          <a:prstGeom prst="rect">
            <a:avLst/>
          </a:prstGeom>
          <a:noFill/>
          <a:ln w="9525">
            <a:noFill/>
          </a:ln>
        </p:spPr>
        <p:txBody>
          <a:bodyPr/>
          <a:p>
            <a:pPr lvl="0"/>
            <a:r>
              <a:rPr lang="en-US" altLang="zh-CN" dirty="0"/>
              <a:t>Click to edit Master text styles</a:t>
            </a:r>
            <a:endParaRPr lang="en-US" altLang="zh-CN" dirty="0"/>
          </a:p>
          <a:p>
            <a:pPr lvl="1"/>
            <a:r>
              <a:rPr lang="en-US" altLang="zh-CN" dirty="0"/>
              <a:t>Second level</a:t>
            </a:r>
            <a:endParaRPr lang="en-US" altLang="zh-CN" dirty="0"/>
          </a:p>
          <a:p>
            <a:pPr lvl="2"/>
            <a:r>
              <a:rPr lang="en-US" altLang="zh-CN" dirty="0"/>
              <a:t>Third level</a:t>
            </a:r>
            <a:endParaRPr lang="en-US" altLang="zh-CN" dirty="0"/>
          </a:p>
          <a:p>
            <a:pPr lvl="3"/>
            <a:r>
              <a:rPr lang="en-US" altLang="zh-CN" dirty="0"/>
              <a:t>Fourth level</a:t>
            </a:r>
            <a:endParaRPr lang="en-US" altLang="zh-CN" dirty="0"/>
          </a:p>
          <a:p>
            <a:pPr lvl="4"/>
            <a:r>
              <a:rPr lang="en-US" altLang="zh-CN" dirty="0"/>
              <a:t>Fifth level</a:t>
            </a:r>
            <a:endParaRPr lang="en-US" altLang="zh-CN" dirty="0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 sz="1400"/>
            </a:lvl1pPr>
          </a:lstStyle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ctr">
              <a:defRPr sz="1400"/>
            </a:lvl1pPr>
          </a:lstStyle>
          <a:p>
            <a:endParaRPr lang="en-US"/>
          </a:p>
        </p:txBody>
      </p:sp>
      <p:sp>
        <p:nvSpPr>
          <p:cNvPr id="1031" name="Rectangle 7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>
              <a:defRPr sz="1400"/>
            </a:lvl1pPr>
          </a:lstStyle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l" rtl="0" fontAlgn="base">
        <a:spcBef>
          <a:spcPct val="0"/>
        </a:spcBef>
        <a:spcAft>
          <a:spcPct val="0"/>
        </a:spcAft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2pPr>
      <a:lvl3pPr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3pPr>
      <a:lvl4pPr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4pPr>
      <a:lvl5pPr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5pPr>
      <a:lvl6pPr marL="457200"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6pPr>
      <a:lvl7pPr marL="914400"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7pPr>
      <a:lvl8pPr marL="1371600"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8pPr>
      <a:lvl9pPr marL="1828800"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9pPr>
    </p:titleStyle>
    <p:bodyStyle>
      <a:lvl1pPr marL="342900" indent="-342900" algn="l" rtl="0" fontAlgn="base">
        <a:spcBef>
          <a:spcPct val="20000"/>
        </a:spcBef>
        <a:spcAft>
          <a:spcPct val="0"/>
        </a:spcAft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fontAlgn="base">
        <a:spcBef>
          <a:spcPct val="20000"/>
        </a:spcBef>
        <a:spcAft>
          <a:spcPct val="0"/>
        </a:spcAft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fontAlgn="base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fontAlgn="base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fontAlgn="base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89585" y="969645"/>
            <a:ext cx="10792460" cy="1814830"/>
          </a:xfrm>
        </p:spPr>
        <p:txBody>
          <a:bodyPr/>
          <a:p>
            <a:pPr algn="ctr"/>
            <a:r>
              <a:rPr lang="en-US" altLang="en-GB" b="1">
                <a:latin typeface="Times New Roman" panose="02020603050405020304" charset="0"/>
                <a:cs typeface="Times New Roman" panose="02020603050405020304" charset="0"/>
              </a:rPr>
              <a:t>AI-Powered Job Matching &amp; Resume Optimization System</a:t>
            </a:r>
            <a:endParaRPr lang="en-US" altLang="en-GB" b="1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63750" y="2927350"/>
            <a:ext cx="9218295" cy="3745230"/>
          </a:xfrm>
        </p:spPr>
        <p:txBody>
          <a:bodyPr/>
          <a:p>
            <a:pPr algn="ctr"/>
            <a:r>
              <a:rPr lang="en-US" altLang="en-GB">
                <a:latin typeface="Times New Roman" panose="02020603050405020304" charset="0"/>
                <a:cs typeface="Times New Roman" panose="02020603050405020304" charset="0"/>
              </a:rPr>
              <a:t>Team Members:</a:t>
            </a:r>
            <a:endParaRPr lang="en-US" altLang="en-GB">
              <a:latin typeface="Times New Roman" panose="02020603050405020304" charset="0"/>
              <a:cs typeface="Times New Roman" panose="02020603050405020304" charset="0"/>
            </a:endParaRPr>
          </a:p>
          <a:p>
            <a:pPr algn="ctr"/>
            <a:endParaRPr lang="en-US" altLang="en-GB">
              <a:latin typeface="Times New Roman" panose="02020603050405020304" charset="0"/>
              <a:cs typeface="Times New Roman" panose="02020603050405020304" charset="0"/>
            </a:endParaRPr>
          </a:p>
          <a:p>
            <a:pPr algn="ctr"/>
            <a:r>
              <a:rPr lang="en-US" altLang="en-GB" b="1">
                <a:latin typeface="Times New Roman" panose="02020603050405020304" charset="0"/>
                <a:cs typeface="Times New Roman" panose="02020603050405020304" charset="0"/>
              </a:rPr>
              <a:t>Amadou </a:t>
            </a:r>
            <a:r>
              <a:rPr lang="en-GB" altLang="en-US" b="1">
                <a:latin typeface="Times New Roman" panose="02020603050405020304" charset="0"/>
                <a:cs typeface="Times New Roman" panose="02020603050405020304" charset="0"/>
              </a:rPr>
              <a:t>Sarjo </a:t>
            </a:r>
            <a:r>
              <a:rPr lang="en-US" altLang="en-GB" b="1">
                <a:latin typeface="Times New Roman" panose="02020603050405020304" charset="0"/>
                <a:cs typeface="Times New Roman" panose="02020603050405020304" charset="0"/>
              </a:rPr>
              <a:t>Jallow</a:t>
            </a:r>
            <a:endParaRPr lang="en-US" altLang="en-GB" b="1">
              <a:latin typeface="Times New Roman" panose="02020603050405020304" charset="0"/>
              <a:cs typeface="Times New Roman" panose="02020603050405020304" charset="0"/>
            </a:endParaRPr>
          </a:p>
          <a:p>
            <a:pPr algn="ctr"/>
            <a:r>
              <a:rPr lang="en-US" altLang="en-GB" b="1">
                <a:latin typeface="Times New Roman" panose="02020603050405020304" charset="0"/>
                <a:cs typeface="Times New Roman" panose="02020603050405020304" charset="0"/>
              </a:rPr>
              <a:t>Jones Omoyibo</a:t>
            </a:r>
            <a:endParaRPr lang="en-US" altLang="en-GB" b="1">
              <a:latin typeface="Times New Roman" panose="02020603050405020304" charset="0"/>
              <a:cs typeface="Times New Roman" panose="02020603050405020304" charset="0"/>
            </a:endParaRPr>
          </a:p>
          <a:p>
            <a:pPr algn="ctr"/>
            <a:r>
              <a:rPr lang="en-GB" altLang="en-GB" b="1">
                <a:latin typeface="Times New Roman" panose="02020603050405020304" charset="0"/>
                <a:cs typeface="Times New Roman" panose="02020603050405020304" charset="0"/>
              </a:rPr>
              <a:t>Williams Afotey Botchway</a:t>
            </a:r>
            <a:endParaRPr lang="en-GB" altLang="en-GB" b="1"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en-GB" b="1">
                <a:latin typeface="Times New Roman" panose="02020603050405020304" charset="0"/>
                <a:cs typeface="Times New Roman" panose="02020603050405020304" charset="0"/>
              </a:rPr>
              <a:t>Agenda</a:t>
            </a:r>
            <a:endParaRPr lang="en-US" altLang="en-GB" b="1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en-GB">
                <a:latin typeface="Times New Roman" panose="02020603050405020304" charset="0"/>
                <a:cs typeface="Times New Roman" panose="02020603050405020304" charset="0"/>
              </a:rPr>
              <a:t>Objective &amp; Target Audience</a:t>
            </a:r>
            <a:endParaRPr lang="en-US" altLang="en-GB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GB">
                <a:latin typeface="Times New Roman" panose="02020603050405020304" charset="0"/>
                <a:cs typeface="Times New Roman" panose="02020603050405020304" charset="0"/>
              </a:rPr>
              <a:t>Application Overview</a:t>
            </a:r>
            <a:endParaRPr lang="en-US" altLang="en-GB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GB">
                <a:latin typeface="Times New Roman" panose="02020603050405020304" charset="0"/>
                <a:cs typeface="Times New Roman" panose="02020603050405020304" charset="0"/>
              </a:rPr>
              <a:t>System Workflow &amp; Orchestration</a:t>
            </a:r>
            <a:r>
              <a:rPr lang="en-GB" altLang="en-US">
                <a:latin typeface="Times New Roman" panose="02020603050405020304" charset="0"/>
                <a:cs typeface="Times New Roman" panose="02020603050405020304" charset="0"/>
              </a:rPr>
              <a:t> ( Overall Image Representation )</a:t>
            </a:r>
            <a:endParaRPr lang="en-US" altLang="en-GB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GB">
                <a:latin typeface="Times New Roman" panose="02020603050405020304" charset="0"/>
                <a:cs typeface="Times New Roman" panose="02020603050405020304" charset="0"/>
              </a:rPr>
              <a:t>Project Structure</a:t>
            </a:r>
            <a:endParaRPr lang="en-US" altLang="en-GB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GB">
                <a:latin typeface="Times New Roman" panose="02020603050405020304" charset="0"/>
                <a:cs typeface="Times New Roman" panose="02020603050405020304" charset="0"/>
              </a:rPr>
              <a:t>Agents &amp; Features</a:t>
            </a:r>
            <a:endParaRPr lang="en-US" altLang="en-GB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GB">
                <a:latin typeface="Times New Roman" panose="02020603050405020304" charset="0"/>
                <a:cs typeface="Times New Roman" panose="02020603050405020304" charset="0"/>
              </a:rPr>
              <a:t>Team Contributions</a:t>
            </a:r>
            <a:endParaRPr lang="en-US" altLang="en-GB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GB">
                <a:latin typeface="Times New Roman" panose="02020603050405020304" charset="0"/>
                <a:cs typeface="Times New Roman" panose="02020603050405020304" charset="0"/>
              </a:rPr>
              <a:t>GitHub Repository</a:t>
            </a:r>
            <a:endParaRPr lang="en-US" altLang="en-GB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GB">
                <a:latin typeface="Times New Roman" panose="02020603050405020304" charset="0"/>
                <a:cs typeface="Times New Roman" panose="02020603050405020304" charset="0"/>
              </a:rPr>
              <a:t>Conclusion &amp; Reflection</a:t>
            </a:r>
            <a:endParaRPr lang="en-US" altLang="en-GB"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en-GB" b="1">
                <a:latin typeface="Times New Roman" panose="02020603050405020304" charset="0"/>
                <a:cs typeface="Times New Roman" panose="02020603050405020304" charset="0"/>
              </a:rPr>
              <a:t>Objective &amp; Audience</a:t>
            </a:r>
            <a:endParaRPr lang="en-US" altLang="en-GB" b="1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pPr marL="0" indent="0">
              <a:buNone/>
            </a:pPr>
            <a:r>
              <a:rPr lang="en-US" altLang="en-GB" b="1">
                <a:latin typeface="Times New Roman" panose="02020603050405020304" charset="0"/>
                <a:cs typeface="Times New Roman" panose="02020603050405020304" charset="0"/>
              </a:rPr>
              <a:t>Objective:</a:t>
            </a:r>
            <a:endParaRPr lang="en-US" altLang="en-GB" b="1"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>
              <a:buNone/>
            </a:pPr>
            <a:r>
              <a:rPr lang="en-US" altLang="en-GB">
                <a:latin typeface="Times New Roman" panose="02020603050405020304" charset="0"/>
                <a:cs typeface="Times New Roman" panose="02020603050405020304" charset="0"/>
              </a:rPr>
              <a:t>Build an AI-powered system that automatically matches users with relevant jobs and generates tailored resumes using a multi-agent architecture.</a:t>
            </a:r>
            <a:endParaRPr lang="en-US" altLang="en-GB">
              <a:latin typeface="Times New Roman" panose="02020603050405020304" charset="0"/>
              <a:cs typeface="Times New Roman" panose="02020603050405020304" charset="0"/>
            </a:endParaRPr>
          </a:p>
          <a:p>
            <a:endParaRPr lang="en-US" altLang="en-GB"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>
              <a:buNone/>
            </a:pPr>
            <a:r>
              <a:rPr lang="en-US" altLang="en-GB" b="1">
                <a:latin typeface="Times New Roman" panose="02020603050405020304" charset="0"/>
                <a:cs typeface="Times New Roman" panose="02020603050405020304" charset="0"/>
              </a:rPr>
              <a:t>Target Audience:</a:t>
            </a:r>
            <a:endParaRPr lang="en-US" altLang="en-GB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GB">
                <a:latin typeface="Times New Roman" panose="02020603050405020304" charset="0"/>
                <a:cs typeface="Times New Roman" panose="02020603050405020304" charset="0"/>
              </a:rPr>
              <a:t>Job seekers (students, entry-level, professionals)</a:t>
            </a:r>
            <a:endParaRPr lang="en-US" altLang="en-GB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GB">
                <a:latin typeface="Times New Roman" panose="02020603050405020304" charset="0"/>
                <a:cs typeface="Times New Roman" panose="02020603050405020304" charset="0"/>
              </a:rPr>
              <a:t>Individuals applying to multiple jobs efficiently</a:t>
            </a:r>
            <a:endParaRPr lang="en-US" altLang="en-GB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GB">
                <a:latin typeface="Times New Roman" panose="02020603050405020304" charset="0"/>
                <a:cs typeface="Times New Roman" panose="02020603050405020304" charset="0"/>
              </a:rPr>
              <a:t>Users needing resume optimization</a:t>
            </a:r>
            <a:endParaRPr lang="en-US" altLang="en-GB"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en-GB" b="1">
                <a:latin typeface="Times New Roman" panose="02020603050405020304" charset="0"/>
                <a:cs typeface="Times New Roman" panose="02020603050405020304" charset="0"/>
              </a:rPr>
              <a:t>Objective &amp; Audience</a:t>
            </a:r>
            <a:endParaRPr lang="en-US" altLang="en-GB" b="1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pPr marL="0" indent="0">
              <a:buNone/>
            </a:pPr>
            <a:r>
              <a:rPr lang="en-US" altLang="en-GB" b="1">
                <a:latin typeface="Times New Roman" panose="02020603050405020304" charset="0"/>
                <a:cs typeface="Times New Roman" panose="02020603050405020304" charset="0"/>
              </a:rPr>
              <a:t>Problem Solved:</a:t>
            </a:r>
            <a:endParaRPr lang="en-US" altLang="en-GB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GB">
                <a:latin typeface="Times New Roman" panose="02020603050405020304" charset="0"/>
                <a:cs typeface="Times New Roman" panose="02020603050405020304" charset="0"/>
              </a:rPr>
              <a:t>Manual job searching is time-consuming</a:t>
            </a:r>
            <a:endParaRPr lang="en-US" altLang="en-GB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GB">
                <a:latin typeface="Times New Roman" panose="02020603050405020304" charset="0"/>
                <a:cs typeface="Times New Roman" panose="02020603050405020304" charset="0"/>
              </a:rPr>
              <a:t>Generic resumes reduce interview chances</a:t>
            </a:r>
            <a:endParaRPr lang="en-US" altLang="en-GB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GB">
                <a:latin typeface="Times New Roman" panose="02020603050405020304" charset="0"/>
                <a:cs typeface="Times New Roman" panose="02020603050405020304" charset="0"/>
              </a:rPr>
              <a:t>Lack of personalization in job applications</a:t>
            </a:r>
            <a:endParaRPr lang="en-US" altLang="en-GB"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en-GB" b="1">
                <a:latin typeface="Times New Roman" panose="02020603050405020304" charset="0"/>
                <a:cs typeface="Times New Roman" panose="02020603050405020304" charset="0"/>
              </a:rPr>
              <a:t>Application Overview</a:t>
            </a:r>
            <a:endParaRPr lang="en-US" altLang="en-GB" b="1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pPr marL="0" indent="0">
              <a:buNone/>
            </a:pPr>
            <a:r>
              <a:rPr lang="en-US" altLang="en-GB">
                <a:latin typeface="Times New Roman" panose="02020603050405020304" charset="0"/>
                <a:cs typeface="Times New Roman" panose="02020603050405020304" charset="0"/>
              </a:rPr>
              <a:t>This application uses multiple AI agents to:</a:t>
            </a:r>
            <a:endParaRPr lang="en-US" altLang="en-GB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GB">
                <a:latin typeface="Times New Roman" panose="02020603050405020304" charset="0"/>
                <a:cs typeface="Times New Roman" panose="02020603050405020304" charset="0"/>
              </a:rPr>
              <a:t>Parse a user’s resume into structured data</a:t>
            </a:r>
            <a:endParaRPr lang="en-US" altLang="en-GB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GB">
                <a:latin typeface="Times New Roman" panose="02020603050405020304" charset="0"/>
                <a:cs typeface="Times New Roman" panose="02020603050405020304" charset="0"/>
              </a:rPr>
              <a:t>Fetch job listings from external APIs</a:t>
            </a:r>
            <a:endParaRPr lang="en-US" altLang="en-GB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GB">
                <a:latin typeface="Times New Roman" panose="02020603050405020304" charset="0"/>
                <a:cs typeface="Times New Roman" panose="02020603050405020304" charset="0"/>
              </a:rPr>
              <a:t>Match jobs based on skills and experience</a:t>
            </a:r>
            <a:endParaRPr lang="en-US" altLang="en-GB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GB">
                <a:latin typeface="Times New Roman" panose="02020603050405020304" charset="0"/>
                <a:cs typeface="Times New Roman" panose="02020603050405020304" charset="0"/>
              </a:rPr>
              <a:t>Rank jobs by relevance</a:t>
            </a:r>
            <a:endParaRPr lang="en-US" altLang="en-GB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GB">
                <a:latin typeface="Times New Roman" panose="02020603050405020304" charset="0"/>
                <a:cs typeface="Times New Roman" panose="02020603050405020304" charset="0"/>
              </a:rPr>
              <a:t>Aggregate and clean results</a:t>
            </a:r>
            <a:endParaRPr lang="en-US" altLang="en-GB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GB">
                <a:latin typeface="Times New Roman" panose="02020603050405020304" charset="0"/>
                <a:cs typeface="Times New Roman" panose="02020603050405020304" charset="0"/>
              </a:rPr>
              <a:t>Display results through a user interface</a:t>
            </a:r>
            <a:endParaRPr lang="en-US" altLang="en-GB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GB">
                <a:latin typeface="Times New Roman" panose="02020603050405020304" charset="0"/>
                <a:cs typeface="Times New Roman" panose="02020603050405020304" charset="0"/>
              </a:rPr>
              <a:t>Generate tailored resumes for selected jobs</a:t>
            </a:r>
            <a:endParaRPr lang="en-US" altLang="en-GB"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en-GB" b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Application Overview</a:t>
            </a:r>
            <a:endParaRPr lang="en-GB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pPr marL="0" indent="0">
              <a:buNone/>
            </a:pPr>
            <a:r>
              <a:rPr lang="en-US" altLang="en-GB">
                <a:latin typeface="Times New Roman" panose="02020603050405020304" charset="0"/>
                <a:cs typeface="Times New Roman" panose="02020603050405020304" charset="0"/>
              </a:rPr>
              <a:t>Key Idea:</a:t>
            </a:r>
            <a:endParaRPr lang="en-US" altLang="en-GB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GB">
                <a:latin typeface="Times New Roman" panose="02020603050405020304" charset="0"/>
                <a:cs typeface="Times New Roman" panose="02020603050405020304" charset="0"/>
              </a:rPr>
              <a:t>A modular multi-agent system where each agent performs a specific task in the pipeline.</a:t>
            </a:r>
            <a:endParaRPr lang="en-US" altLang="en-GB"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en-GB" b="1">
                <a:latin typeface="Times New Roman" panose="02020603050405020304" charset="0"/>
                <a:cs typeface="Times New Roman" panose="02020603050405020304" charset="0"/>
              </a:rPr>
              <a:t>System Workflow &amp; Orchestration</a:t>
            </a:r>
            <a:endParaRPr lang="en-US" altLang="en-GB" b="1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pPr marL="0" indent="0">
              <a:buNone/>
            </a:pPr>
            <a:r>
              <a:rPr lang="en-US" altLang="en-GB">
                <a:latin typeface="Times New Roman" panose="02020603050405020304" charset="0"/>
                <a:cs typeface="Times New Roman" panose="02020603050405020304" charset="0"/>
              </a:rPr>
              <a:t>Pipeline Overview:</a:t>
            </a:r>
            <a:r>
              <a:rPr lang="en-GB" altLang="en-US">
                <a:latin typeface="Times New Roman" panose="02020603050405020304" charset="0"/>
                <a:cs typeface="Times New Roman" panose="02020603050405020304" charset="0"/>
              </a:rPr>
              <a:t> TO BE REMOVED</a:t>
            </a:r>
            <a:endParaRPr lang="en-US" altLang="en-GB"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>
              <a:buNone/>
            </a:pPr>
            <a:r>
              <a:rPr lang="en-US" altLang="en-GB" sz="1800">
                <a:latin typeface="Times New Roman" panose="02020603050405020304" charset="0"/>
                <a:cs typeface="Times New Roman" panose="02020603050405020304" charset="0"/>
              </a:rPr>
              <a:t>Resume </a:t>
            </a:r>
            <a:r>
              <a:rPr lang="en-US" altLang="en-US" sz="1800">
                <a:latin typeface="Times New Roman" panose="02020603050405020304" charset="0"/>
                <a:cs typeface="Times New Roman" panose="02020603050405020304" charset="0"/>
              </a:rPr>
              <a:t>→</a:t>
            </a:r>
            <a:r>
              <a:rPr lang="en-US" altLang="en-GB" sz="1800">
                <a:latin typeface="Times New Roman" panose="02020603050405020304" charset="0"/>
                <a:cs typeface="Times New Roman" panose="02020603050405020304" charset="0"/>
              </a:rPr>
              <a:t> Parser Agent </a:t>
            </a:r>
            <a:r>
              <a:rPr lang="en-US" altLang="en-US" sz="1800">
                <a:latin typeface="Times New Roman" panose="02020603050405020304" charset="0"/>
                <a:cs typeface="Times New Roman" panose="02020603050405020304" charset="0"/>
              </a:rPr>
              <a:t>→</a:t>
            </a:r>
            <a:r>
              <a:rPr lang="en-US" altLang="en-GB" sz="1800">
                <a:latin typeface="Times New Roman" panose="02020603050405020304" charset="0"/>
                <a:cs typeface="Times New Roman" panose="02020603050405020304" charset="0"/>
              </a:rPr>
              <a:t> Profile JSON</a:t>
            </a:r>
            <a:endParaRPr lang="en-US" altLang="en-GB" sz="1800"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>
              <a:buNone/>
            </a:pPr>
            <a:r>
              <a:rPr lang="en-US" altLang="en-US" sz="1800">
                <a:latin typeface="Times New Roman" panose="02020603050405020304" charset="0"/>
                <a:cs typeface="Times New Roman" panose="02020603050405020304" charset="0"/>
              </a:rPr>
              <a:t>↓</a:t>
            </a:r>
            <a:endParaRPr lang="en-US" altLang="en-US" sz="1800"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>
              <a:buNone/>
            </a:pPr>
            <a:r>
              <a:rPr lang="en-US" altLang="en-GB" sz="1800">
                <a:latin typeface="Times New Roman" panose="02020603050405020304" charset="0"/>
                <a:cs typeface="Times New Roman" panose="02020603050405020304" charset="0"/>
              </a:rPr>
              <a:t>Orchestrator Agent</a:t>
            </a:r>
            <a:endParaRPr lang="en-US" altLang="en-GB" sz="1800"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>
              <a:buNone/>
            </a:pPr>
            <a:r>
              <a:rPr lang="en-US" altLang="en-US" sz="1800">
                <a:latin typeface="Times New Roman" panose="02020603050405020304" charset="0"/>
                <a:cs typeface="Times New Roman" panose="02020603050405020304" charset="0"/>
              </a:rPr>
              <a:t>↓</a:t>
            </a:r>
            <a:endParaRPr lang="en-US" altLang="en-US" sz="1800"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>
              <a:buNone/>
            </a:pPr>
            <a:r>
              <a:rPr lang="en-US" altLang="en-GB" sz="1800">
                <a:latin typeface="Times New Roman" panose="02020603050405020304" charset="0"/>
                <a:cs typeface="Times New Roman" panose="02020603050405020304" charset="0"/>
              </a:rPr>
              <a:t>Remotive Matcher + Arbeitnow Matcher (parallel)</a:t>
            </a:r>
            <a:endParaRPr lang="en-US" altLang="en-GB" sz="1800"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>
              <a:buNone/>
            </a:pPr>
            <a:r>
              <a:rPr lang="en-US" altLang="en-US" sz="1800">
                <a:latin typeface="Times New Roman" panose="02020603050405020304" charset="0"/>
                <a:cs typeface="Times New Roman" panose="02020603050405020304" charset="0"/>
              </a:rPr>
              <a:t>↓</a:t>
            </a:r>
            <a:endParaRPr lang="en-US" altLang="en-US" sz="1800"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>
              <a:buNone/>
            </a:pPr>
            <a:r>
              <a:rPr lang="en-US" altLang="en-GB" sz="1800">
                <a:latin typeface="Times New Roman" panose="02020603050405020304" charset="0"/>
                <a:cs typeface="Times New Roman" panose="02020603050405020304" charset="0"/>
              </a:rPr>
              <a:t>Ranking Agent</a:t>
            </a:r>
            <a:endParaRPr lang="en-US" altLang="en-GB" sz="1800"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>
              <a:buNone/>
            </a:pPr>
            <a:r>
              <a:rPr lang="en-US" altLang="en-US" sz="1800">
                <a:latin typeface="Times New Roman" panose="02020603050405020304" charset="0"/>
                <a:cs typeface="Times New Roman" panose="02020603050405020304" charset="0"/>
              </a:rPr>
              <a:t>↓</a:t>
            </a:r>
            <a:endParaRPr lang="en-US" altLang="en-US" sz="1800"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>
              <a:buNone/>
            </a:pPr>
            <a:r>
              <a:rPr lang="en-US" altLang="en-GB" sz="1800">
                <a:latin typeface="Times New Roman" panose="02020603050405020304" charset="0"/>
                <a:cs typeface="Times New Roman" panose="02020603050405020304" charset="0"/>
              </a:rPr>
              <a:t>Aggregator Agent</a:t>
            </a:r>
            <a:endParaRPr lang="en-US" altLang="en-GB" sz="1800"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>
              <a:buNone/>
            </a:pPr>
            <a:r>
              <a:rPr lang="en-US" altLang="en-US" sz="1800">
                <a:latin typeface="Times New Roman" panose="02020603050405020304" charset="0"/>
                <a:cs typeface="Times New Roman" panose="02020603050405020304" charset="0"/>
              </a:rPr>
              <a:t>↓</a:t>
            </a:r>
            <a:endParaRPr lang="en-US" altLang="en-US" sz="1800"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>
              <a:buNone/>
            </a:pPr>
            <a:r>
              <a:rPr lang="en-US" altLang="en-GB" sz="1800">
                <a:latin typeface="Times New Roman" panose="02020603050405020304" charset="0"/>
                <a:cs typeface="Times New Roman" panose="02020603050405020304" charset="0"/>
              </a:rPr>
              <a:t>UI (Gradio)</a:t>
            </a:r>
            <a:endParaRPr lang="en-US" altLang="en-GB" sz="1800"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>
              <a:buNone/>
            </a:pPr>
            <a:r>
              <a:rPr lang="en-US" altLang="en-US" sz="1800">
                <a:latin typeface="Times New Roman" panose="02020603050405020304" charset="0"/>
                <a:cs typeface="Times New Roman" panose="02020603050405020304" charset="0"/>
              </a:rPr>
              <a:t>↓</a:t>
            </a:r>
            <a:endParaRPr lang="en-US" altLang="en-US" sz="1800"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>
              <a:buNone/>
            </a:pPr>
            <a:r>
              <a:rPr lang="en-US" altLang="en-GB" sz="1800">
                <a:latin typeface="Times New Roman" panose="02020603050405020304" charset="0"/>
                <a:cs typeface="Times New Roman" panose="02020603050405020304" charset="0"/>
              </a:rPr>
              <a:t>Tailored Resume Agent (on demand)</a:t>
            </a:r>
            <a:endParaRPr lang="en-US" altLang="en-GB" sz="1800"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en-GB" b="1">
                <a:latin typeface="Times New Roman" panose="02020603050405020304" charset="0"/>
                <a:cs typeface="Times New Roman" panose="02020603050405020304" charset="0"/>
              </a:rPr>
              <a:t>Project Structure (Screenshot Slide)</a:t>
            </a:r>
            <a:endParaRPr lang="en-US" altLang="en-GB" b="1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pPr marL="0" indent="0">
              <a:buNone/>
            </a:pPr>
            <a:r>
              <a:rPr lang="en-GB" altLang="en-US">
                <a:latin typeface="Times New Roman" panose="02020603050405020304" charset="0"/>
                <a:cs typeface="Times New Roman" panose="02020603050405020304" charset="0"/>
              </a:rPr>
              <a:t>(</a:t>
            </a:r>
            <a:r>
              <a:rPr lang="en-US" altLang="en-GB">
                <a:latin typeface="Times New Roman" panose="02020603050405020304" charset="0"/>
                <a:cs typeface="Times New Roman" panose="02020603050405020304" charset="0"/>
              </a:rPr>
              <a:t>screenshot of our folder</a:t>
            </a:r>
            <a:r>
              <a:rPr lang="en-GB" altLang="en-US">
                <a:latin typeface="Times New Roman" panose="02020603050405020304" charset="0"/>
                <a:cs typeface="Times New Roman" panose="02020603050405020304" charset="0"/>
              </a:rPr>
              <a:t>)</a:t>
            </a:r>
            <a:endParaRPr lang="en-GB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en-GB" b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Project Structure</a:t>
            </a:r>
            <a:endParaRPr lang="en-GB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pPr marL="0" indent="0">
              <a:buNone/>
            </a:pPr>
            <a:r>
              <a:rPr lang="en-US" altLang="en-GB" b="1">
                <a:latin typeface="Times New Roman" panose="02020603050405020304" charset="0"/>
                <a:cs typeface="Times New Roman" panose="02020603050405020304" charset="0"/>
              </a:rPr>
              <a:t>Description:</a:t>
            </a:r>
            <a:endParaRPr lang="en-US" altLang="en-GB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GB">
                <a:latin typeface="Times New Roman" panose="02020603050405020304" charset="0"/>
                <a:cs typeface="Times New Roman" panose="02020603050405020304" charset="0"/>
              </a:rPr>
              <a:t>agents/ </a:t>
            </a: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→</a:t>
            </a:r>
            <a:r>
              <a:rPr lang="en-US" altLang="en-GB">
                <a:latin typeface="Times New Roman" panose="02020603050405020304" charset="0"/>
                <a:cs typeface="Times New Roman" panose="02020603050405020304" charset="0"/>
              </a:rPr>
              <a:t> Core AI agents (parser, matcher, ranking, aggregator, resume generator)</a:t>
            </a:r>
            <a:endParaRPr lang="en-US" altLang="en-GB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GB">
                <a:latin typeface="Times New Roman" panose="02020603050405020304" charset="0"/>
                <a:cs typeface="Times New Roman" panose="02020603050405020304" charset="0"/>
              </a:rPr>
              <a:t>apis/ </a:t>
            </a: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→</a:t>
            </a:r>
            <a:r>
              <a:rPr lang="en-US" altLang="en-GB">
                <a:latin typeface="Times New Roman" panose="02020603050405020304" charset="0"/>
                <a:cs typeface="Times New Roman" panose="02020603050405020304" charset="0"/>
              </a:rPr>
              <a:t> External job API integrations</a:t>
            </a:r>
            <a:endParaRPr lang="en-US" altLang="en-GB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GB">
                <a:latin typeface="Times New Roman" panose="02020603050405020304" charset="0"/>
                <a:cs typeface="Times New Roman" panose="02020603050405020304" charset="0"/>
              </a:rPr>
              <a:t>utils/ </a:t>
            </a: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→</a:t>
            </a:r>
            <a:r>
              <a:rPr lang="en-US" altLang="en-GB">
                <a:latin typeface="Times New Roman" panose="02020603050405020304" charset="0"/>
                <a:cs typeface="Times New Roman" panose="02020603050405020304" charset="0"/>
              </a:rPr>
              <a:t> Helper functions (PDF parsing, scoring)</a:t>
            </a:r>
            <a:endParaRPr lang="en-US" altLang="en-GB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GB">
                <a:latin typeface="Times New Roman" panose="02020603050405020304" charset="0"/>
                <a:cs typeface="Times New Roman" panose="02020603050405020304" charset="0"/>
              </a:rPr>
              <a:t>ui/ </a:t>
            </a: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→</a:t>
            </a:r>
            <a:r>
              <a:rPr lang="en-US" altLang="en-GB">
                <a:latin typeface="Times New Roman" panose="02020603050405020304" charset="0"/>
                <a:cs typeface="Times New Roman" panose="02020603050405020304" charset="0"/>
              </a:rPr>
              <a:t> Gradio interface</a:t>
            </a:r>
            <a:endParaRPr lang="en-US" altLang="en-GB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GB">
                <a:latin typeface="Times New Roman" panose="02020603050405020304" charset="0"/>
                <a:cs typeface="Times New Roman" panose="02020603050405020304" charset="0"/>
              </a:rPr>
              <a:t>main.py </a:t>
            </a: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→</a:t>
            </a:r>
            <a:r>
              <a:rPr lang="en-US" altLang="en-GB">
                <a:latin typeface="Times New Roman" panose="02020603050405020304" charset="0"/>
                <a:cs typeface="Times New Roman" panose="02020603050405020304" charset="0"/>
              </a:rPr>
              <a:t> Entry point</a:t>
            </a:r>
            <a:endParaRPr lang="en-US" altLang="en-GB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GB" altLang="en-US">
                <a:latin typeface="Times New Roman" panose="02020603050405020304" charset="0"/>
                <a:cs typeface="Times New Roman" panose="02020603050405020304" charset="0"/>
              </a:rPr>
              <a:t>pipeline</a:t>
            </a:r>
            <a:r>
              <a:rPr lang="en-US" altLang="en-GB">
                <a:latin typeface="Times New Roman" panose="02020603050405020304" charset="0"/>
                <a:cs typeface="Times New Roman" panose="02020603050405020304" charset="0"/>
              </a:rPr>
              <a:t>.py </a:t>
            </a: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→</a:t>
            </a:r>
            <a:r>
              <a:rPr lang="en-US" altLang="en-GB">
                <a:latin typeface="Times New Roman" panose="02020603050405020304" charset="0"/>
                <a:cs typeface="Times New Roman" panose="02020603050405020304" charset="0"/>
              </a:rPr>
              <a:t> Controls workflow</a:t>
            </a:r>
            <a:endParaRPr lang="en-US" altLang="en-GB"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en-GB" b="1">
                <a:latin typeface="Times New Roman" panose="02020603050405020304" charset="0"/>
                <a:cs typeface="Times New Roman" panose="02020603050405020304" charset="0"/>
              </a:rPr>
              <a:t>Agents &amp; Features</a:t>
            </a:r>
            <a:endParaRPr lang="en-US" altLang="en-GB" b="1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pPr marL="0" indent="0">
              <a:buNone/>
            </a:pPr>
            <a:r>
              <a:rPr lang="en-US" altLang="en-GB">
                <a:latin typeface="Times New Roman" panose="02020603050405020304" charset="0"/>
                <a:cs typeface="Times New Roman" panose="02020603050405020304" charset="0"/>
              </a:rPr>
              <a:t>1. </a:t>
            </a:r>
            <a:r>
              <a:rPr lang="en-US" altLang="en-GB" b="1">
                <a:latin typeface="Times New Roman" panose="02020603050405020304" charset="0"/>
                <a:cs typeface="Times New Roman" panose="02020603050405020304" charset="0"/>
              </a:rPr>
              <a:t>Resume Parser Agent</a:t>
            </a:r>
            <a:endParaRPr lang="en-US" altLang="en-GB"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>
              <a:buNone/>
            </a:pPr>
            <a:r>
              <a:rPr lang="en-US" altLang="en-GB">
                <a:latin typeface="Times New Roman" panose="02020603050405020304" charset="0"/>
                <a:cs typeface="Times New Roman" panose="02020603050405020304" charset="0"/>
              </a:rPr>
              <a:t>Extracts skills, experience, and roles from resume</a:t>
            </a:r>
            <a:endParaRPr lang="en-US" altLang="en-GB"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>
              <a:buNone/>
            </a:pPr>
            <a:r>
              <a:rPr lang="en-US" altLang="en-GB">
                <a:latin typeface="Times New Roman" panose="02020603050405020304" charset="0"/>
                <a:cs typeface="Times New Roman" panose="02020603050405020304" charset="0"/>
              </a:rPr>
              <a:t>Outputs structured Profile JSON</a:t>
            </a:r>
            <a:endParaRPr lang="en-US" altLang="en-GB"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>
              <a:buNone/>
            </a:pPr>
            <a:r>
              <a:rPr lang="en-US" altLang="en-GB">
                <a:latin typeface="Times New Roman" panose="02020603050405020304" charset="0"/>
                <a:cs typeface="Times New Roman" panose="02020603050405020304" charset="0"/>
              </a:rPr>
              <a:t>2. </a:t>
            </a:r>
            <a:r>
              <a:rPr lang="en-US" altLang="en-GB" b="1">
                <a:latin typeface="Times New Roman" panose="02020603050405020304" charset="0"/>
                <a:cs typeface="Times New Roman" panose="02020603050405020304" charset="0"/>
              </a:rPr>
              <a:t>Matcher Agents</a:t>
            </a:r>
            <a:endParaRPr lang="en-US" altLang="en-GB">
              <a:latin typeface="Times New Roman" panose="02020603050405020304" charset="0"/>
              <a:cs typeface="Times New Roman" panose="02020603050405020304" charset="0"/>
            </a:endParaRPr>
          </a:p>
          <a:p>
            <a:pPr marL="457200" lvl="1" indent="0">
              <a:buNone/>
            </a:pPr>
            <a:r>
              <a:rPr lang="en-US" altLang="en-GB">
                <a:latin typeface="Times New Roman" panose="02020603050405020304" charset="0"/>
                <a:cs typeface="Times New Roman" panose="02020603050405020304" charset="0"/>
              </a:rPr>
              <a:t>Remotive Matcher</a:t>
            </a:r>
            <a:endParaRPr lang="en-US" altLang="en-GB">
              <a:latin typeface="Times New Roman" panose="02020603050405020304" charset="0"/>
              <a:cs typeface="Times New Roman" panose="02020603050405020304" charset="0"/>
            </a:endParaRPr>
          </a:p>
          <a:p>
            <a:pPr marL="457200" lvl="1" indent="0">
              <a:buNone/>
            </a:pPr>
            <a:r>
              <a:rPr lang="en-US" altLang="en-GB">
                <a:latin typeface="Times New Roman" panose="02020603050405020304" charset="0"/>
                <a:cs typeface="Times New Roman" panose="02020603050405020304" charset="0"/>
              </a:rPr>
              <a:t>Arbeitnow Matcher</a:t>
            </a:r>
            <a:endParaRPr lang="en-US" altLang="en-GB">
              <a:latin typeface="Times New Roman" panose="02020603050405020304" charset="0"/>
              <a:cs typeface="Times New Roman" panose="02020603050405020304" charset="0"/>
            </a:endParaRPr>
          </a:p>
          <a:p>
            <a:pPr marL="457200" lvl="1" indent="0">
              <a:buNone/>
            </a:pPr>
            <a:r>
              <a:rPr lang="en-US" altLang="en-GB" b="1">
                <a:latin typeface="Times New Roman" panose="02020603050405020304" charset="0"/>
                <a:cs typeface="Times New Roman" panose="02020603050405020304" charset="0"/>
              </a:rPr>
              <a:t>Function</a:t>
            </a:r>
            <a:r>
              <a:rPr lang="en-US" altLang="en-GB">
                <a:latin typeface="Times New Roman" panose="02020603050405020304" charset="0"/>
                <a:cs typeface="Times New Roman" panose="02020603050405020304" charset="0"/>
              </a:rPr>
              <a:t>:</a:t>
            </a:r>
            <a:endParaRPr lang="en-US" altLang="en-GB">
              <a:latin typeface="Times New Roman" panose="02020603050405020304" charset="0"/>
              <a:cs typeface="Times New Roman" panose="02020603050405020304" charset="0"/>
            </a:endParaRPr>
          </a:p>
          <a:p>
            <a:pPr marL="457200" lvl="1" indent="0">
              <a:buNone/>
            </a:pPr>
            <a:r>
              <a:rPr lang="en-US" altLang="en-GB">
                <a:latin typeface="Times New Roman" panose="02020603050405020304" charset="0"/>
                <a:cs typeface="Times New Roman" panose="02020603050405020304" charset="0"/>
              </a:rPr>
              <a:t>Fetch jobs from APIs</a:t>
            </a:r>
            <a:endParaRPr lang="en-US" altLang="en-GB">
              <a:latin typeface="Times New Roman" panose="02020603050405020304" charset="0"/>
              <a:cs typeface="Times New Roman" panose="02020603050405020304" charset="0"/>
            </a:endParaRPr>
          </a:p>
          <a:p>
            <a:pPr marL="457200" lvl="1" indent="0">
              <a:buNone/>
            </a:pPr>
            <a:r>
              <a:rPr lang="en-US" altLang="en-GB">
                <a:latin typeface="Times New Roman" panose="02020603050405020304" charset="0"/>
                <a:cs typeface="Times New Roman" panose="02020603050405020304" charset="0"/>
              </a:rPr>
              <a:t>Filter jobs based on user profile</a:t>
            </a:r>
            <a:endParaRPr lang="en-US" altLang="en-GB"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en-GB" b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Agents &amp; Features</a:t>
            </a:r>
            <a:endParaRPr lang="en-GB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pPr marL="0" indent="0">
              <a:buNone/>
            </a:pPr>
            <a:r>
              <a:rPr lang="en-US" altLang="en-GB">
                <a:latin typeface="Times New Roman" panose="02020603050405020304" charset="0"/>
                <a:cs typeface="Times New Roman" panose="02020603050405020304" charset="0"/>
              </a:rPr>
              <a:t>3. </a:t>
            </a:r>
            <a:r>
              <a:rPr lang="en-US" altLang="en-GB" b="1">
                <a:latin typeface="Times New Roman" panose="02020603050405020304" charset="0"/>
                <a:cs typeface="Times New Roman" panose="02020603050405020304" charset="0"/>
              </a:rPr>
              <a:t>Ranking Agent</a:t>
            </a:r>
            <a:endParaRPr lang="en-US" altLang="en-GB"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altLang="en-GB">
                <a:latin typeface="Times New Roman" panose="02020603050405020304" charset="0"/>
                <a:cs typeface="Times New Roman" panose="02020603050405020304" charset="0"/>
              </a:rPr>
              <a:t>Assigns a relevance score to each job</a:t>
            </a:r>
            <a:endParaRPr lang="en-US" altLang="en-GB"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altLang="en-GB">
                <a:latin typeface="Times New Roman" panose="02020603050405020304" charset="0"/>
                <a:cs typeface="Times New Roman" panose="02020603050405020304" charset="0"/>
              </a:rPr>
              <a:t>Uses:</a:t>
            </a:r>
            <a:endParaRPr lang="en-US" altLang="en-GB">
              <a:latin typeface="Times New Roman" panose="02020603050405020304" charset="0"/>
              <a:cs typeface="Times New Roman" panose="02020603050405020304" charset="0"/>
            </a:endParaRPr>
          </a:p>
          <a:p>
            <a:pPr lvl="1">
              <a:buFont typeface="Arial" panose="020B0604020202020204" pitchFamily="34" charset="0"/>
              <a:buChar char="•"/>
            </a:pPr>
            <a:r>
              <a:rPr lang="en-US" altLang="en-GB">
                <a:latin typeface="Times New Roman" panose="02020603050405020304" charset="0"/>
                <a:cs typeface="Times New Roman" panose="02020603050405020304" charset="0"/>
              </a:rPr>
              <a:t>Skill matching</a:t>
            </a:r>
            <a:endParaRPr lang="en-US" altLang="en-GB">
              <a:latin typeface="Times New Roman" panose="02020603050405020304" charset="0"/>
              <a:cs typeface="Times New Roman" panose="02020603050405020304" charset="0"/>
            </a:endParaRPr>
          </a:p>
          <a:p>
            <a:pPr lvl="1">
              <a:buFont typeface="Arial" panose="020B0604020202020204" pitchFamily="34" charset="0"/>
              <a:buChar char="•"/>
            </a:pPr>
            <a:r>
              <a:rPr lang="en-US" altLang="en-GB">
                <a:latin typeface="Times New Roman" panose="02020603050405020304" charset="0"/>
                <a:cs typeface="Times New Roman" panose="02020603050405020304" charset="0"/>
              </a:rPr>
              <a:t>Keyword similarity</a:t>
            </a:r>
            <a:endParaRPr lang="en-US" altLang="en-GB"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en-GB" b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Agents &amp; Features</a:t>
            </a:r>
            <a:endParaRPr lang="en-GB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pPr marL="0" indent="0">
              <a:buNone/>
            </a:pPr>
            <a:r>
              <a:rPr lang="en-US" altLang="en-GB">
                <a:latin typeface="Times New Roman" panose="02020603050405020304" charset="0"/>
                <a:cs typeface="Times New Roman" panose="02020603050405020304" charset="0"/>
              </a:rPr>
              <a:t>4. </a:t>
            </a:r>
            <a:r>
              <a:rPr lang="en-US" altLang="en-GB" b="1">
                <a:latin typeface="Times New Roman" panose="02020603050405020304" charset="0"/>
                <a:cs typeface="Times New Roman" panose="02020603050405020304" charset="0"/>
              </a:rPr>
              <a:t>Aggregator Agent</a:t>
            </a:r>
            <a:endParaRPr lang="en-US" altLang="en-GB" b="1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GB">
                <a:latin typeface="Times New Roman" panose="02020603050405020304" charset="0"/>
                <a:cs typeface="Times New Roman" panose="02020603050405020304" charset="0"/>
              </a:rPr>
              <a:t>Combines results from all sources</a:t>
            </a:r>
            <a:endParaRPr lang="en-US" altLang="en-GB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GB">
                <a:latin typeface="Times New Roman" panose="02020603050405020304" charset="0"/>
                <a:cs typeface="Times New Roman" panose="02020603050405020304" charset="0"/>
              </a:rPr>
              <a:t>Removes duplicate jobs</a:t>
            </a:r>
            <a:endParaRPr lang="en-US" altLang="en-GB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GB">
                <a:latin typeface="Times New Roman" panose="02020603050405020304" charset="0"/>
                <a:cs typeface="Times New Roman" panose="02020603050405020304" charset="0"/>
              </a:rPr>
              <a:t>Sorts by highest score</a:t>
            </a:r>
            <a:endParaRPr lang="en-US" altLang="en-GB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GB">
                <a:latin typeface="Times New Roman" panose="02020603050405020304" charset="0"/>
                <a:cs typeface="Times New Roman" panose="02020603050405020304" charset="0"/>
              </a:rPr>
              <a:t>Returns top matches</a:t>
            </a:r>
            <a:endParaRPr lang="en-US" altLang="en-GB"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en-GB" b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Agents &amp; Features</a:t>
            </a:r>
            <a:endParaRPr lang="en-GB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pPr marL="0" indent="0">
              <a:buNone/>
            </a:pPr>
            <a:r>
              <a:rPr lang="en-US" altLang="en-GB">
                <a:latin typeface="Times New Roman" panose="02020603050405020304" charset="0"/>
                <a:cs typeface="Times New Roman" panose="02020603050405020304" charset="0"/>
              </a:rPr>
              <a:t>5. </a:t>
            </a:r>
            <a:r>
              <a:rPr lang="en-US" altLang="en-GB" b="1">
                <a:latin typeface="Times New Roman" panose="02020603050405020304" charset="0"/>
                <a:cs typeface="Times New Roman" panose="02020603050405020304" charset="0"/>
              </a:rPr>
              <a:t>Resume Generator Agent</a:t>
            </a:r>
            <a:endParaRPr lang="en-US" altLang="en-GB" b="1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GB">
                <a:latin typeface="Times New Roman" panose="02020603050405020304" charset="0"/>
                <a:cs typeface="Times New Roman" panose="02020603050405020304" charset="0"/>
              </a:rPr>
              <a:t>Creates tailored resumes for specific jobs</a:t>
            </a:r>
            <a:endParaRPr lang="en-US" altLang="en-GB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GB">
                <a:latin typeface="Times New Roman" panose="02020603050405020304" charset="0"/>
                <a:cs typeface="Times New Roman" panose="02020603050405020304" charset="0"/>
              </a:rPr>
              <a:t>Aligns resume content with job descriptions</a:t>
            </a:r>
            <a:endParaRPr lang="en-US" altLang="en-GB"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en-GB" b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Agents &amp; Features</a:t>
            </a:r>
            <a:endParaRPr lang="en-GB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pPr marL="0" indent="0">
              <a:buNone/>
            </a:pPr>
            <a:r>
              <a:rPr lang="en-US" altLang="en-GB" b="1">
                <a:latin typeface="Times New Roman" panose="02020603050405020304" charset="0"/>
                <a:cs typeface="Times New Roman" panose="02020603050405020304" charset="0"/>
              </a:rPr>
              <a:t>Key Feature</a:t>
            </a:r>
            <a:endParaRPr lang="en-US" altLang="en-GB" b="1"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>
              <a:buNone/>
            </a:pPr>
            <a:endParaRPr lang="en-US" altLang="en-GB"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>
              <a:buNone/>
            </a:pP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✔</a:t>
            </a:r>
            <a:r>
              <a:rPr lang="en-US" altLang="en-GB">
                <a:latin typeface="Times New Roman" panose="02020603050405020304" charset="0"/>
                <a:cs typeface="Times New Roman" panose="02020603050405020304" charset="0"/>
              </a:rPr>
              <a:t> Modular multi-agent architecture</a:t>
            </a:r>
            <a:endParaRPr lang="en-US" altLang="en-GB"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>
              <a:buNone/>
            </a:pP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✔</a:t>
            </a:r>
            <a:r>
              <a:rPr lang="en-US" altLang="en-GB">
                <a:latin typeface="Times New Roman" panose="02020603050405020304" charset="0"/>
                <a:cs typeface="Times New Roman" panose="02020603050405020304" charset="0"/>
              </a:rPr>
              <a:t> Scalable and easy to extend</a:t>
            </a:r>
            <a:endParaRPr lang="en-US" altLang="en-GB"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>
              <a:buNone/>
            </a:pP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✔</a:t>
            </a:r>
            <a:r>
              <a:rPr lang="en-US" altLang="en-GB">
                <a:latin typeface="Times New Roman" panose="02020603050405020304" charset="0"/>
                <a:cs typeface="Times New Roman" panose="02020603050405020304" charset="0"/>
              </a:rPr>
              <a:t> Parallel processing for efficiency</a:t>
            </a:r>
            <a:endParaRPr lang="en-US" altLang="en-GB"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en-GB" b="1">
                <a:latin typeface="Times New Roman" panose="02020603050405020304" charset="0"/>
                <a:cs typeface="Times New Roman" panose="02020603050405020304" charset="0"/>
              </a:rPr>
              <a:t>Team Contributions</a:t>
            </a:r>
            <a:endParaRPr lang="en-US" altLang="en-GB" b="1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pPr marL="0" indent="0">
              <a:buNone/>
            </a:pPr>
            <a:r>
              <a:rPr lang="en-US" altLang="en-GB" b="1">
                <a:latin typeface="Times New Roman" panose="02020603050405020304" charset="0"/>
                <a:cs typeface="Times New Roman" panose="02020603050405020304" charset="0"/>
              </a:rPr>
              <a:t>Amadou </a:t>
            </a:r>
            <a:r>
              <a:rPr lang="en-GB" altLang="en-US" b="1">
                <a:latin typeface="Times New Roman" panose="02020603050405020304" charset="0"/>
                <a:cs typeface="Times New Roman" panose="02020603050405020304" charset="0"/>
              </a:rPr>
              <a:t>Sarjo </a:t>
            </a:r>
            <a:r>
              <a:rPr lang="en-US" altLang="en-GB" b="1">
                <a:latin typeface="Times New Roman" panose="02020603050405020304" charset="0"/>
                <a:cs typeface="Times New Roman" panose="02020603050405020304" charset="0"/>
              </a:rPr>
              <a:t>Jallow:</a:t>
            </a:r>
            <a:endParaRPr lang="en-US" altLang="en-GB" b="1"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>
              <a:buNone/>
            </a:pPr>
            <a:endParaRPr lang="en-US" altLang="en-GB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GB">
                <a:latin typeface="Times New Roman" panose="02020603050405020304" charset="0"/>
                <a:cs typeface="Times New Roman" panose="02020603050405020304" charset="0"/>
              </a:rPr>
              <a:t>Designed system architecture</a:t>
            </a:r>
            <a:endParaRPr lang="en-US" altLang="en-GB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GB">
                <a:latin typeface="Times New Roman" panose="02020603050405020304" charset="0"/>
                <a:cs typeface="Times New Roman" panose="02020603050405020304" charset="0"/>
              </a:rPr>
              <a:t>Implemented orchestrator and agent workflow</a:t>
            </a:r>
            <a:endParaRPr lang="en-US" altLang="en-GB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GB">
                <a:latin typeface="Times New Roman" panose="02020603050405020304" charset="0"/>
                <a:cs typeface="Times New Roman" panose="02020603050405020304" charset="0"/>
              </a:rPr>
              <a:t>Built resume parsing and ranking logic</a:t>
            </a:r>
            <a:endParaRPr lang="en-US" altLang="en-GB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GB">
                <a:latin typeface="Times New Roman" panose="02020603050405020304" charset="0"/>
                <a:cs typeface="Times New Roman" panose="02020603050405020304" charset="0"/>
              </a:rPr>
              <a:t>Integrated APIs and UI</a:t>
            </a:r>
            <a:endParaRPr lang="en-US" altLang="en-GB"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en-GB" b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Team Contributions</a:t>
            </a:r>
            <a:endParaRPr lang="en-GB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pPr marL="0" indent="0">
              <a:buNone/>
            </a:pPr>
            <a:r>
              <a:rPr lang="en-US" altLang="en-GB" b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Jones Omoyibo:</a:t>
            </a:r>
            <a:endParaRPr lang="en-US" altLang="en-GB" b="1"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>
              <a:buNone/>
            </a:pPr>
            <a:endParaRPr lang="en-US" altLang="en-GB"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>
              <a:buNone/>
            </a:pPr>
            <a:r>
              <a:rPr lang="en-US" altLang="en-GB">
                <a:latin typeface="Times New Roman" panose="02020603050405020304" charset="0"/>
                <a:cs typeface="Times New Roman" panose="02020603050405020304" charset="0"/>
                <a:sym typeface="+mn-ea"/>
              </a:rPr>
              <a:t>Designed system architecture</a:t>
            </a:r>
            <a:endParaRPr lang="en-US" altLang="en-GB"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>
              <a:buNone/>
            </a:pPr>
            <a:r>
              <a:rPr lang="en-US" altLang="en-GB">
                <a:latin typeface="Times New Roman" panose="02020603050405020304" charset="0"/>
                <a:cs typeface="Times New Roman" panose="02020603050405020304" charset="0"/>
                <a:sym typeface="+mn-ea"/>
              </a:rPr>
              <a:t>Implemented orchestrator and agent workflow</a:t>
            </a:r>
            <a:endParaRPr lang="en-US" altLang="en-GB"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>
              <a:buNone/>
            </a:pPr>
            <a:r>
              <a:rPr lang="en-US" altLang="en-GB">
                <a:latin typeface="Times New Roman" panose="02020603050405020304" charset="0"/>
                <a:cs typeface="Times New Roman" panose="02020603050405020304" charset="0"/>
                <a:sym typeface="+mn-ea"/>
              </a:rPr>
              <a:t>Built resume parsing and ranking logic</a:t>
            </a:r>
            <a:endParaRPr lang="en-US" altLang="en-GB"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>
              <a:buNone/>
            </a:pPr>
            <a:r>
              <a:rPr lang="en-US" altLang="en-GB">
                <a:latin typeface="Times New Roman" panose="02020603050405020304" charset="0"/>
                <a:cs typeface="Times New Roman" panose="02020603050405020304" charset="0"/>
                <a:sym typeface="+mn-ea"/>
              </a:rPr>
              <a:t>Integrated APIs and UI</a:t>
            </a:r>
            <a:endParaRPr lang="en-US" altLang="en-GB"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>
              <a:buNone/>
            </a:pPr>
            <a:endParaRPr lang="en-GB" alt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en-GB" b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Team Contributions</a:t>
            </a:r>
            <a:endParaRPr lang="en-GB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pPr marL="0" indent="0">
              <a:buNone/>
            </a:pPr>
            <a:r>
              <a:rPr lang="en-GB" altLang="en-GB" b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Williams Afotey Botchway:</a:t>
            </a:r>
            <a:endParaRPr lang="en-GB" altLang="en-GB" b="1"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  <a:p>
            <a:pPr marL="0" indent="0">
              <a:buNone/>
            </a:pPr>
            <a:endParaRPr lang="en-US" altLang="en-GB"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>
              <a:buNone/>
            </a:pPr>
            <a:r>
              <a:rPr lang="en-US" altLang="en-GB">
                <a:latin typeface="Times New Roman" panose="02020603050405020304" charset="0"/>
                <a:cs typeface="Times New Roman" panose="02020603050405020304" charset="0"/>
                <a:sym typeface="+mn-ea"/>
              </a:rPr>
              <a:t>Designed system architecture</a:t>
            </a:r>
            <a:endParaRPr lang="en-US" altLang="en-GB"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>
              <a:buNone/>
            </a:pPr>
            <a:r>
              <a:rPr lang="en-US" altLang="en-GB">
                <a:latin typeface="Times New Roman" panose="02020603050405020304" charset="0"/>
                <a:cs typeface="Times New Roman" panose="02020603050405020304" charset="0"/>
                <a:sym typeface="+mn-ea"/>
              </a:rPr>
              <a:t>Implemented orchestrator and agent workflow</a:t>
            </a:r>
            <a:endParaRPr lang="en-US" altLang="en-GB"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>
              <a:buNone/>
            </a:pPr>
            <a:r>
              <a:rPr lang="en-US" altLang="en-GB">
                <a:latin typeface="Times New Roman" panose="02020603050405020304" charset="0"/>
                <a:cs typeface="Times New Roman" panose="02020603050405020304" charset="0"/>
                <a:sym typeface="+mn-ea"/>
              </a:rPr>
              <a:t>Built resume parsing and ranking logic</a:t>
            </a:r>
            <a:endParaRPr lang="en-US" altLang="en-GB"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>
              <a:buNone/>
            </a:pPr>
            <a:r>
              <a:rPr lang="en-US" altLang="en-GB">
                <a:latin typeface="Times New Roman" panose="02020603050405020304" charset="0"/>
                <a:cs typeface="Times New Roman" panose="02020603050405020304" charset="0"/>
                <a:sym typeface="+mn-ea"/>
              </a:rPr>
              <a:t>Integrated APIs and UI</a:t>
            </a:r>
            <a:endParaRPr lang="en-GB" alt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ear Drives">
  <a:themeElements>
    <a:clrScheme name="Gear Drives 13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5F5F5F"/>
      </a:accent1>
      <a:accent2>
        <a:srgbClr val="969696"/>
      </a:accent2>
      <a:accent3>
        <a:srgbClr val="FFFFFF"/>
      </a:accent3>
      <a:accent4>
        <a:srgbClr val="000000"/>
      </a:accent4>
      <a:accent5>
        <a:srgbClr val="B6B6B6"/>
      </a:accent5>
      <a:accent6>
        <a:srgbClr val="878787"/>
      </a:accent6>
      <a:hlink>
        <a:srgbClr val="CC3300"/>
      </a:hlink>
      <a:folHlink>
        <a:srgbClr val="996600"/>
      </a:folHlink>
    </a:clrScheme>
    <a:fontScheme name="Gear Drives">
      <a:majorFont>
        <a:latin typeface="Arial"/>
        <a:ea typeface="SimSun"/>
        <a:cs typeface=""/>
      </a:majorFont>
      <a:minorFont>
        <a:latin typeface="Arial"/>
        <a:ea typeface="SimSun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accent2"/>
            </a:gs>
          </a:gsLst>
          <a:lin ang="5400000" scaled="1"/>
        </a:gradFill>
        <a:ln w="9525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</a:spPr>
      <a:bodyPr vert="horz" wrap="none" lIns="91440" tIns="45720" rIns="91440" bIns="45720" numCol="1" anchor="ctr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SimSun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accent2"/>
            </a:gs>
          </a:gsLst>
          <a:lin ang="5400000" scaled="1"/>
        </a:gradFill>
        <a:ln w="9525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</a:spPr>
      <a:bodyPr vert="horz" wrap="none" lIns="91440" tIns="45720" rIns="91440" bIns="45720" numCol="1" anchor="ctr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SimSun" panose="02010600030101010101" pitchFamily="2" charset="-122"/>
          </a:defRPr>
        </a:defPPr>
      </a:lstStyle>
    </a:lnDef>
  </a:objectDefaults>
  <a:extraClrSchemeLst>
    <a:extraClrScheme>
      <a:clrScheme name="Gear Drives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ear Drives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ear Drives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ear Drives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ear Drives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ear Drives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ear Drives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ear Drives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ear Drives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ear Drives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ear Drives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ear Drives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ear Drives 13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5F5F5F"/>
        </a:accent1>
        <a:accent2>
          <a:srgbClr val="969696"/>
        </a:accent2>
        <a:accent3>
          <a:srgbClr val="FFFFFF"/>
        </a:accent3>
        <a:accent4>
          <a:srgbClr val="000000"/>
        </a:accent4>
        <a:accent5>
          <a:srgbClr val="B6B6B6"/>
        </a:accent5>
        <a:accent6>
          <a:srgbClr val="878787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3044</Words>
  <Application>WPS Presentation</Application>
  <PresentationFormat>Widescreen</PresentationFormat>
  <Paragraphs>153</Paragraphs>
  <Slides>17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26" baseType="lpstr">
      <vt:lpstr>Arial</vt:lpstr>
      <vt:lpstr>SimSun</vt:lpstr>
      <vt:lpstr>Wingdings</vt:lpstr>
      <vt:lpstr>Arial Unicode MS</vt:lpstr>
      <vt:lpstr>Calibri Light</vt:lpstr>
      <vt:lpstr>Calibri</vt:lpstr>
      <vt:lpstr>Microsoft YaHei</vt:lpstr>
      <vt:lpstr>Times New Roman</vt:lpstr>
      <vt:lpstr>Gear Drives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WPS Presentation</dc:title>
  <dc:creator>User</dc:creator>
  <cp:lastModifiedBy>AMS Jallow</cp:lastModifiedBy>
  <cp:revision>18</cp:revision>
  <dcterms:created xsi:type="dcterms:W3CDTF">2025-07-23T00:59:00Z</dcterms:created>
  <dcterms:modified xsi:type="dcterms:W3CDTF">2026-04-07T19:28:11Z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54E3B25BCD2745478B9940572D8AF892_11</vt:lpwstr>
  </property>
  <property fmtid="{D5CDD505-2E9C-101B-9397-08002B2CF9AE}" pid="3" name="KSOProductBuildVer">
    <vt:lpwstr>2057-12.2.0.23197</vt:lpwstr>
  </property>
</Properties>
</file>